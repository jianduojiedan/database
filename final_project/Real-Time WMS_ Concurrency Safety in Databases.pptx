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8260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224" y="2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8514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2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11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1.png"/><Relationship Id="rId21" Type="http://schemas.openxmlformats.org/officeDocument/2006/relationships/image" Target="../media/image55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2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4" Type="http://schemas.openxmlformats.org/officeDocument/2006/relationships/image" Target="../media/image2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3" Type="http://schemas.openxmlformats.org/officeDocument/2006/relationships/image" Target="../media/image1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image" Target="../media/image2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13" Type="http://schemas.openxmlformats.org/officeDocument/2006/relationships/image" Target="../media/image90.png"/><Relationship Id="rId3" Type="http://schemas.openxmlformats.org/officeDocument/2006/relationships/image" Target="../media/image1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2.png"/><Relationship Id="rId9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0" y="1581150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7788" y="1733550"/>
            <a:ext cx="20002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1200" y="1581150"/>
            <a:ext cx="609600" cy="609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1700" y="173355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1581150"/>
            <a:ext cx="60960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4188" y="1733550"/>
            <a:ext cx="200025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6350" y="4857750"/>
            <a:ext cx="114300" cy="114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14950" y="4895850"/>
            <a:ext cx="609600" cy="38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8850" y="4857750"/>
            <a:ext cx="114300" cy="1143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7450" y="4895850"/>
            <a:ext cx="609600" cy="38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1350" y="4857750"/>
            <a:ext cx="114300" cy="114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20300" y="6324600"/>
            <a:ext cx="133350" cy="1524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762000" y="2647950"/>
            <a:ext cx="106680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kern="0" spc="-72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WMS: Concurrency Safety in Databases</a:t>
            </a:r>
            <a:endParaRPr lang="en-US" sz="3600" dirty="0"/>
          </a:p>
        </p:txBody>
      </p:sp>
      <p:sp>
        <p:nvSpPr>
          <p:cNvPr id="18" name="Text 1"/>
          <p:cNvSpPr/>
          <p:nvPr/>
        </p:nvSpPr>
        <p:spPr>
          <a:xfrm>
            <a:off x="2438400" y="3790950"/>
            <a:ext cx="73152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Implementing Pessimistic Locking &amp; ACID Transactions in PostgreSQL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457200" y="6286500"/>
            <a:ext cx="3977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[Jianduojie Dan] | Database Systems Final Project</a:t>
            </a:r>
            <a:endParaRPr lang="en-US" sz="1200" dirty="0"/>
          </a:p>
        </p:txBody>
      </p:sp>
      <p:sp>
        <p:nvSpPr>
          <p:cNvPr id="20" name="Text 3"/>
          <p:cNvSpPr/>
          <p:nvPr/>
        </p:nvSpPr>
        <p:spPr>
          <a:xfrm>
            <a:off x="10277475" y="6324600"/>
            <a:ext cx="174879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4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Data Integrity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8382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201" y="2249050"/>
            <a:ext cx="450370" cy="51429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777" y="3096903"/>
            <a:ext cx="360297" cy="51429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076700"/>
            <a:ext cx="360297" cy="51429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4924553"/>
            <a:ext cx="360297" cy="51429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05600" y="1447800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48475" y="1543050"/>
            <a:ext cx="17145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10600" y="1447800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53475" y="1543050"/>
            <a:ext cx="17145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15600" y="1447800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58475" y="1543050"/>
            <a:ext cx="17145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24800" y="2628900"/>
            <a:ext cx="1828800" cy="1219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34350" y="4076700"/>
            <a:ext cx="1409700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30976" y="4572000"/>
            <a:ext cx="17145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53326" y="4572000"/>
            <a:ext cx="17145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75677" y="4572000"/>
            <a:ext cx="17145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05600" y="4991100"/>
            <a:ext cx="1320850" cy="533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19900" y="5191125"/>
            <a:ext cx="133350" cy="1333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48537" y="5694970"/>
            <a:ext cx="3729038" cy="5143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00937" y="5889280"/>
            <a:ext cx="205740" cy="20574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609600" y="3810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"Flash Sale" Challenge</a:t>
            </a:r>
            <a:endParaRPr lang="en-US" sz="2700" dirty="0"/>
          </a:p>
        </p:txBody>
      </p:sp>
      <p:sp>
        <p:nvSpPr>
          <p:cNvPr id="29" name="Text 1"/>
          <p:cNvSpPr/>
          <p:nvPr/>
        </p:nvSpPr>
        <p:spPr>
          <a:xfrm>
            <a:off x="1193586" y="2219940"/>
            <a:ext cx="469906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Scenario:</a:t>
            </a: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100 users try to buy the </a:t>
            </a:r>
            <a:r>
              <a:rPr lang="en-US" sz="2400" b="1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</a:t>
            </a: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iPhone simultaneously.</a:t>
            </a:r>
            <a:endParaRPr lang="en-US" sz="2400" dirty="0"/>
          </a:p>
        </p:txBody>
      </p:sp>
      <p:sp>
        <p:nvSpPr>
          <p:cNvPr id="30" name="Text 2"/>
          <p:cNvSpPr/>
          <p:nvPr/>
        </p:nvSpPr>
        <p:spPr>
          <a:xfrm>
            <a:off x="1170231" y="3001427"/>
            <a:ext cx="4745776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Risk:</a:t>
            </a: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Race Condition occurs when multiple transactions </a:t>
            </a:r>
            <a:r>
              <a:rPr lang="en-US" sz="2400" b="1" i="1" dirty="0">
                <a:solidFill>
                  <a:srgbClr val="7030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read-modify-write</a:t>
            </a: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same data.</a:t>
            </a:r>
            <a:endParaRPr lang="en-US" sz="2400" dirty="0"/>
          </a:p>
        </p:txBody>
      </p:sp>
      <p:sp>
        <p:nvSpPr>
          <p:cNvPr id="31" name="Text 3"/>
          <p:cNvSpPr/>
          <p:nvPr/>
        </p:nvSpPr>
        <p:spPr>
          <a:xfrm>
            <a:off x="1130745" y="4043120"/>
            <a:ext cx="463759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Failure:</a:t>
            </a: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"Overselling" - Inventory drops to -99.</a:t>
            </a:r>
            <a:endParaRPr lang="en-US" sz="2400" dirty="0"/>
          </a:p>
        </p:txBody>
      </p:sp>
      <p:sp>
        <p:nvSpPr>
          <p:cNvPr id="32" name="Text 4"/>
          <p:cNvSpPr/>
          <p:nvPr/>
        </p:nvSpPr>
        <p:spPr>
          <a:xfrm>
            <a:off x="1240961" y="4905444"/>
            <a:ext cx="4745776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Why:</a:t>
            </a: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Read-Modify-Write cycles overlap without proper locking.</a:t>
            </a:r>
            <a:endParaRPr lang="en-US" sz="2400" dirty="0"/>
          </a:p>
        </p:txBody>
      </p:sp>
      <p:sp>
        <p:nvSpPr>
          <p:cNvPr id="33" name="Text 5"/>
          <p:cNvSpPr/>
          <p:nvPr/>
        </p:nvSpPr>
        <p:spPr>
          <a:xfrm>
            <a:off x="6738938" y="1981200"/>
            <a:ext cx="4686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1</a:t>
            </a:r>
            <a:endParaRPr lang="en-US" sz="1050" dirty="0"/>
          </a:p>
        </p:txBody>
      </p:sp>
      <p:sp>
        <p:nvSpPr>
          <p:cNvPr id="34" name="Text 6"/>
          <p:cNvSpPr/>
          <p:nvPr/>
        </p:nvSpPr>
        <p:spPr>
          <a:xfrm>
            <a:off x="8629650" y="1981200"/>
            <a:ext cx="5029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2</a:t>
            </a:r>
            <a:endParaRPr lang="en-US" sz="1050" dirty="0"/>
          </a:p>
        </p:txBody>
      </p:sp>
      <p:sp>
        <p:nvSpPr>
          <p:cNvPr id="35" name="Text 7"/>
          <p:cNvSpPr/>
          <p:nvPr/>
        </p:nvSpPr>
        <p:spPr>
          <a:xfrm>
            <a:off x="10534650" y="1981200"/>
            <a:ext cx="5029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3</a:t>
            </a:r>
            <a:endParaRPr lang="en-US" sz="1050" dirty="0"/>
          </a:p>
        </p:txBody>
      </p:sp>
      <p:sp>
        <p:nvSpPr>
          <p:cNvPr id="36" name="Text 8"/>
          <p:cNvSpPr/>
          <p:nvPr/>
        </p:nvSpPr>
        <p:spPr>
          <a:xfrm>
            <a:off x="8548688" y="2800350"/>
            <a:ext cx="69723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iPhone</a:t>
            </a:r>
            <a:endParaRPr lang="en-US" sz="1350" dirty="0"/>
          </a:p>
        </p:txBody>
      </p:sp>
      <p:sp>
        <p:nvSpPr>
          <p:cNvPr id="37" name="Text 9"/>
          <p:cNvSpPr/>
          <p:nvPr/>
        </p:nvSpPr>
        <p:spPr>
          <a:xfrm>
            <a:off x="8777288" y="3105150"/>
            <a:ext cx="14859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50" dirty="0"/>
          </a:p>
        </p:txBody>
      </p:sp>
      <p:sp>
        <p:nvSpPr>
          <p:cNvPr id="38" name="Text 10"/>
          <p:cNvSpPr/>
          <p:nvPr/>
        </p:nvSpPr>
        <p:spPr>
          <a:xfrm>
            <a:off x="8558213" y="3486150"/>
            <a:ext cx="67437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Available</a:t>
            </a:r>
            <a:endParaRPr lang="en-US" sz="1050" dirty="0"/>
          </a:p>
        </p:txBody>
      </p:sp>
      <p:sp>
        <p:nvSpPr>
          <p:cNvPr id="39" name="Text 11"/>
          <p:cNvSpPr/>
          <p:nvPr/>
        </p:nvSpPr>
        <p:spPr>
          <a:xfrm>
            <a:off x="8362950" y="4152900"/>
            <a:ext cx="12344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Quantity: 1</a:t>
            </a:r>
            <a:endParaRPr lang="en-US" sz="1050" dirty="0"/>
          </a:p>
        </p:txBody>
      </p:sp>
      <p:sp>
        <p:nvSpPr>
          <p:cNvPr id="40" name="Text 12"/>
          <p:cNvSpPr/>
          <p:nvPr/>
        </p:nvSpPr>
        <p:spPr>
          <a:xfrm>
            <a:off x="7029450" y="5161570"/>
            <a:ext cx="8827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Decrement by 1</a:t>
            </a:r>
            <a:endParaRPr lang="en-US" sz="1050" dirty="0"/>
          </a:p>
        </p:txBody>
      </p:sp>
      <p:sp>
        <p:nvSpPr>
          <p:cNvPr id="43" name="Text 15"/>
          <p:cNvSpPr/>
          <p:nvPr/>
        </p:nvSpPr>
        <p:spPr>
          <a:xfrm>
            <a:off x="7498405" y="5856895"/>
            <a:ext cx="2575162" cy="2571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Quantity: -99 (Oversold!)</a:t>
            </a:r>
            <a:endParaRPr lang="en-US" sz="1600" dirty="0"/>
          </a:p>
        </p:txBody>
      </p:sp>
      <p:sp>
        <p:nvSpPr>
          <p:cNvPr id="44" name="Text 16"/>
          <p:cNvSpPr/>
          <p:nvPr/>
        </p:nvSpPr>
        <p:spPr>
          <a:xfrm>
            <a:off x="609600" y="6534150"/>
            <a:ext cx="38061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WMS: Concurrency Safety in Databases</a:t>
            </a:r>
            <a:endParaRPr lang="en-US" sz="1050" dirty="0"/>
          </a:p>
        </p:txBody>
      </p:sp>
      <p:sp>
        <p:nvSpPr>
          <p:cNvPr id="45" name="Text 17"/>
          <p:cNvSpPr/>
          <p:nvPr/>
        </p:nvSpPr>
        <p:spPr>
          <a:xfrm>
            <a:off x="11372850" y="6534150"/>
            <a:ext cx="251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2/7</a:t>
            </a:r>
            <a:endParaRPr lang="en-US" sz="1050" dirty="0"/>
          </a:p>
        </p:txBody>
      </p:sp>
      <p:pic>
        <p:nvPicPr>
          <p:cNvPr id="50" name="Image 18" descr="preencoded.png">
            <a:extLst>
              <a:ext uri="{FF2B5EF4-FFF2-40B4-BE49-F238E27FC236}">
                <a16:creationId xmlns:a16="http://schemas.microsoft.com/office/drawing/2014/main" id="{EE9BC020-28D6-6F7C-35E3-533080ADB22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24888" y="4992669"/>
            <a:ext cx="1320850" cy="533400"/>
          </a:xfrm>
          <a:prstGeom prst="rect">
            <a:avLst/>
          </a:prstGeom>
        </p:spPr>
      </p:pic>
      <p:pic>
        <p:nvPicPr>
          <p:cNvPr id="51" name="Image 19" descr="preencoded.png">
            <a:extLst>
              <a:ext uri="{FF2B5EF4-FFF2-40B4-BE49-F238E27FC236}">
                <a16:creationId xmlns:a16="http://schemas.microsoft.com/office/drawing/2014/main" id="{926611F5-0A63-35F6-E386-7A3851969D0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39188" y="5192694"/>
            <a:ext cx="133350" cy="133350"/>
          </a:xfrm>
          <a:prstGeom prst="rect">
            <a:avLst/>
          </a:prstGeom>
        </p:spPr>
      </p:pic>
      <p:sp>
        <p:nvSpPr>
          <p:cNvPr id="52" name="Text 12">
            <a:extLst>
              <a:ext uri="{FF2B5EF4-FFF2-40B4-BE49-F238E27FC236}">
                <a16:creationId xmlns:a16="http://schemas.microsoft.com/office/drawing/2014/main" id="{1B14270C-247D-713A-4311-8DF127366FA7}"/>
              </a:ext>
            </a:extLst>
          </p:cNvPr>
          <p:cNvSpPr/>
          <p:nvPr/>
        </p:nvSpPr>
        <p:spPr>
          <a:xfrm>
            <a:off x="8548738" y="5163139"/>
            <a:ext cx="8827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Decrement by 1</a:t>
            </a:r>
            <a:endParaRPr lang="en-US" sz="1050" dirty="0"/>
          </a:p>
        </p:txBody>
      </p:sp>
      <p:pic>
        <p:nvPicPr>
          <p:cNvPr id="53" name="Image 18" descr="preencoded.png">
            <a:extLst>
              <a:ext uri="{FF2B5EF4-FFF2-40B4-BE49-F238E27FC236}">
                <a16:creationId xmlns:a16="http://schemas.microsoft.com/office/drawing/2014/main" id="{9F28E15B-F62C-D113-A9A3-84DC99A4264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14322" y="5002095"/>
            <a:ext cx="1320850" cy="533400"/>
          </a:xfrm>
          <a:prstGeom prst="rect">
            <a:avLst/>
          </a:prstGeom>
        </p:spPr>
      </p:pic>
      <p:pic>
        <p:nvPicPr>
          <p:cNvPr id="54" name="Image 19" descr="preencoded.png">
            <a:extLst>
              <a:ext uri="{FF2B5EF4-FFF2-40B4-BE49-F238E27FC236}">
                <a16:creationId xmlns:a16="http://schemas.microsoft.com/office/drawing/2014/main" id="{4EC081D0-BE2F-DFC8-E41A-0AFE9F26BC1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28622" y="5202120"/>
            <a:ext cx="133350" cy="133350"/>
          </a:xfrm>
          <a:prstGeom prst="rect">
            <a:avLst/>
          </a:prstGeom>
        </p:spPr>
      </p:pic>
      <p:sp>
        <p:nvSpPr>
          <p:cNvPr id="55" name="Text 12">
            <a:extLst>
              <a:ext uri="{FF2B5EF4-FFF2-40B4-BE49-F238E27FC236}">
                <a16:creationId xmlns:a16="http://schemas.microsoft.com/office/drawing/2014/main" id="{2ABAA7B9-8424-D076-9638-A1BE1780C40F}"/>
              </a:ext>
            </a:extLst>
          </p:cNvPr>
          <p:cNvSpPr/>
          <p:nvPr/>
        </p:nvSpPr>
        <p:spPr>
          <a:xfrm>
            <a:off x="10038172" y="5172565"/>
            <a:ext cx="8827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Decrement by 1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6 -1.11111E-6 L 0.04167 -1.11111E-6 " pathEditMode="relative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6 -1.11111E-6 L 0.04167 -1.11111E-6 " pathEditMode="relative" ptsTypes="AA">
                                      <p:cBhvr>
                                        <p:cTn id="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6 -1.11111E-6 L 0.04167 -1.11111E-6 " pathEditMode="relative" ptsTypes="AA">
                                      <p:cBhvr>
                                        <p:cTn id="1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715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8382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477789"/>
            <a:ext cx="304800" cy="42672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3330281"/>
            <a:ext cx="384810" cy="53873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607" y="5324475"/>
            <a:ext cx="401411" cy="56197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5600" y="1466850"/>
            <a:ext cx="4267200" cy="1752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4200" y="211455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4200" y="245745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4200" y="280035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05600" y="3448050"/>
            <a:ext cx="2057400" cy="1447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0" y="3600450"/>
            <a:ext cx="304800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43725" y="3676650"/>
            <a:ext cx="13335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15400" y="3448050"/>
            <a:ext cx="2057400" cy="1447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67800" y="3600450"/>
            <a:ext cx="304800" cy="304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53525" y="3676650"/>
            <a:ext cx="13335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05600" y="5048250"/>
            <a:ext cx="2057400" cy="10668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0" y="5200650"/>
            <a:ext cx="304800" cy="3048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34200" y="5276850"/>
            <a:ext cx="152400" cy="1524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15400" y="5048250"/>
            <a:ext cx="2057400" cy="10668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67800" y="5200650"/>
            <a:ext cx="304800" cy="3048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44000" y="5276850"/>
            <a:ext cx="152400" cy="152400"/>
          </a:xfrm>
          <a:prstGeom prst="rect">
            <a:avLst/>
          </a:prstGeom>
        </p:spPr>
      </p:pic>
      <p:sp>
        <p:nvSpPr>
          <p:cNvPr id="37" name="Text 0"/>
          <p:cNvSpPr/>
          <p:nvPr/>
        </p:nvSpPr>
        <p:spPr>
          <a:xfrm>
            <a:off x="609600" y="3810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3NF Schema &amp; Design</a:t>
            </a:r>
            <a:endParaRPr lang="en-US" sz="2700" dirty="0"/>
          </a:p>
        </p:txBody>
      </p:sp>
      <p:sp>
        <p:nvSpPr>
          <p:cNvPr id="38" name="Text 1"/>
          <p:cNvSpPr/>
          <p:nvPr/>
        </p:nvSpPr>
        <p:spPr>
          <a:xfrm>
            <a:off x="933450" y="1504459"/>
            <a:ext cx="48387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Core Tables:</a:t>
            </a: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Normalized design for Products, Warehouses, and Orders.</a:t>
            </a:r>
            <a:endParaRPr lang="en-US" sz="2400" dirty="0"/>
          </a:p>
        </p:txBody>
      </p:sp>
      <p:sp>
        <p:nvSpPr>
          <p:cNvPr id="39" name="Text 2"/>
          <p:cNvSpPr/>
          <p:nvPr/>
        </p:nvSpPr>
        <p:spPr>
          <a:xfrm>
            <a:off x="952500" y="3307040"/>
            <a:ext cx="4838700" cy="590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Dual-State Tracking:</a:t>
            </a: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Separated </a:t>
            </a:r>
            <a:r>
              <a:rPr lang="en-US" sz="24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Inventory</a:t>
            </a: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(Current State) from </a:t>
            </a:r>
            <a:r>
              <a:rPr lang="en-US" sz="24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Stock_Movements</a:t>
            </a: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(Audit Log).</a:t>
            </a:r>
            <a:endParaRPr lang="en-US" sz="2400" dirty="0"/>
          </a:p>
        </p:txBody>
      </p:sp>
      <p:sp>
        <p:nvSpPr>
          <p:cNvPr id="40" name="Text 3"/>
          <p:cNvSpPr/>
          <p:nvPr/>
        </p:nvSpPr>
        <p:spPr>
          <a:xfrm>
            <a:off x="1018488" y="5353050"/>
            <a:ext cx="4838700" cy="561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Constraint:</a:t>
            </a: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CHECK (quantity &gt;= 0)</a:t>
            </a: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 the final defense line.</a:t>
            </a:r>
            <a:endParaRPr lang="en-US" sz="2400" dirty="0"/>
          </a:p>
        </p:txBody>
      </p:sp>
      <p:sp>
        <p:nvSpPr>
          <p:cNvPr id="50" name="Text 13"/>
          <p:cNvSpPr/>
          <p:nvPr/>
        </p:nvSpPr>
        <p:spPr>
          <a:xfrm>
            <a:off x="6934200" y="1695450"/>
            <a:ext cx="4572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A4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 Normal Form Benefits</a:t>
            </a:r>
            <a:endParaRPr lang="en-US" sz="1500" dirty="0"/>
          </a:p>
        </p:txBody>
      </p:sp>
      <p:sp>
        <p:nvSpPr>
          <p:cNvPr id="51" name="Text 14"/>
          <p:cNvSpPr/>
          <p:nvPr/>
        </p:nvSpPr>
        <p:spPr>
          <a:xfrm>
            <a:off x="7200900" y="2076450"/>
            <a:ext cx="1943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Eliminates redundancy</a:t>
            </a:r>
            <a:endParaRPr lang="en-US" sz="1600" dirty="0"/>
          </a:p>
        </p:txBody>
      </p:sp>
      <p:sp>
        <p:nvSpPr>
          <p:cNvPr id="52" name="Text 15"/>
          <p:cNvSpPr/>
          <p:nvPr/>
        </p:nvSpPr>
        <p:spPr>
          <a:xfrm>
            <a:off x="7200900" y="2419350"/>
            <a:ext cx="18630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data integrity</a:t>
            </a:r>
            <a:endParaRPr lang="en-US" sz="1600" dirty="0"/>
          </a:p>
        </p:txBody>
      </p:sp>
      <p:sp>
        <p:nvSpPr>
          <p:cNvPr id="53" name="Text 16"/>
          <p:cNvSpPr/>
          <p:nvPr/>
        </p:nvSpPr>
        <p:spPr>
          <a:xfrm>
            <a:off x="7200900" y="2762250"/>
            <a:ext cx="15659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Optimizes storage</a:t>
            </a:r>
            <a:endParaRPr lang="en-US" sz="1600" dirty="0"/>
          </a:p>
        </p:txBody>
      </p:sp>
      <p:sp>
        <p:nvSpPr>
          <p:cNvPr id="54" name="Text 17"/>
          <p:cNvSpPr/>
          <p:nvPr/>
        </p:nvSpPr>
        <p:spPr>
          <a:xfrm>
            <a:off x="7277100" y="3638550"/>
            <a:ext cx="10858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Tables</a:t>
            </a:r>
            <a:endParaRPr lang="en-US" sz="1600" dirty="0"/>
          </a:p>
        </p:txBody>
      </p:sp>
      <p:sp>
        <p:nvSpPr>
          <p:cNvPr id="55" name="Text 18"/>
          <p:cNvSpPr/>
          <p:nvPr/>
        </p:nvSpPr>
        <p:spPr>
          <a:xfrm>
            <a:off x="6858000" y="3981450"/>
            <a:ext cx="17526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Products, Warehouses, Orders, Inventory, Stock_Movements, Order_Items</a:t>
            </a:r>
            <a:endParaRPr lang="en-US" sz="1200" dirty="0"/>
          </a:p>
        </p:txBody>
      </p:sp>
      <p:sp>
        <p:nvSpPr>
          <p:cNvPr id="56" name="Text 19"/>
          <p:cNvSpPr/>
          <p:nvPr/>
        </p:nvSpPr>
        <p:spPr>
          <a:xfrm>
            <a:off x="9486900" y="3638550"/>
            <a:ext cx="12230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Dual Tracking</a:t>
            </a:r>
            <a:endParaRPr lang="en-US" sz="1600" dirty="0"/>
          </a:p>
        </p:txBody>
      </p:sp>
      <p:sp>
        <p:nvSpPr>
          <p:cNvPr id="57" name="Text 20"/>
          <p:cNvSpPr/>
          <p:nvPr/>
        </p:nvSpPr>
        <p:spPr>
          <a:xfrm>
            <a:off x="9067800" y="3981450"/>
            <a:ext cx="17526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Separates current inventory state from transaction history</a:t>
            </a:r>
            <a:endParaRPr lang="en-US" sz="1200" dirty="0"/>
          </a:p>
        </p:txBody>
      </p:sp>
      <p:sp>
        <p:nvSpPr>
          <p:cNvPr id="58" name="Text 21"/>
          <p:cNvSpPr/>
          <p:nvPr/>
        </p:nvSpPr>
        <p:spPr>
          <a:xfrm>
            <a:off x="7277100" y="5238750"/>
            <a:ext cx="15316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 Constraints</a:t>
            </a:r>
            <a:endParaRPr lang="en-US" sz="1600" dirty="0"/>
          </a:p>
        </p:txBody>
      </p:sp>
      <p:sp>
        <p:nvSpPr>
          <p:cNvPr id="59" name="Text 22"/>
          <p:cNvSpPr/>
          <p:nvPr/>
        </p:nvSpPr>
        <p:spPr>
          <a:xfrm>
            <a:off x="6858000" y="5581650"/>
            <a:ext cx="1752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(quantity &gt;= 0) as final defense line</a:t>
            </a:r>
            <a:endParaRPr lang="en-US" sz="1200" dirty="0"/>
          </a:p>
        </p:txBody>
      </p:sp>
      <p:sp>
        <p:nvSpPr>
          <p:cNvPr id="60" name="Text 23"/>
          <p:cNvSpPr/>
          <p:nvPr/>
        </p:nvSpPr>
        <p:spPr>
          <a:xfrm>
            <a:off x="9486900" y="5238750"/>
            <a:ext cx="15659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ACID Compliance</a:t>
            </a:r>
            <a:endParaRPr lang="en-US" sz="1600" dirty="0"/>
          </a:p>
        </p:txBody>
      </p:sp>
      <p:sp>
        <p:nvSpPr>
          <p:cNvPr id="61" name="Text 24"/>
          <p:cNvSpPr/>
          <p:nvPr/>
        </p:nvSpPr>
        <p:spPr>
          <a:xfrm>
            <a:off x="9067800" y="5581650"/>
            <a:ext cx="1752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transactional integrity</a:t>
            </a:r>
            <a:endParaRPr lang="en-US" sz="1200" dirty="0"/>
          </a:p>
        </p:txBody>
      </p:sp>
      <p:sp>
        <p:nvSpPr>
          <p:cNvPr id="62" name="Text 25"/>
          <p:cNvSpPr/>
          <p:nvPr/>
        </p:nvSpPr>
        <p:spPr>
          <a:xfrm>
            <a:off x="609600" y="6534150"/>
            <a:ext cx="38061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WMS: Concurrency Safety in Databases</a:t>
            </a:r>
            <a:endParaRPr lang="en-US" sz="1050" dirty="0"/>
          </a:p>
        </p:txBody>
      </p:sp>
      <p:sp>
        <p:nvSpPr>
          <p:cNvPr id="63" name="Text 26"/>
          <p:cNvSpPr/>
          <p:nvPr/>
        </p:nvSpPr>
        <p:spPr>
          <a:xfrm>
            <a:off x="11372850" y="6534150"/>
            <a:ext cx="251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3/7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564F55BE-C897-5E50-867F-738B0CCB5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12" y="0"/>
            <a:ext cx="12192000" cy="6858000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6746F0-C6FF-9732-F3B0-D723A3983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862" y="-260203"/>
            <a:ext cx="8869501" cy="71177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F283B9-1CC5-4F8A-F3AE-A60B7EC2EAED}"/>
              </a:ext>
            </a:extLst>
          </p:cNvPr>
          <p:cNvSpPr txBox="1"/>
          <p:nvPr/>
        </p:nvSpPr>
        <p:spPr>
          <a:xfrm>
            <a:off x="11368726" y="46756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569707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1811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362200"/>
            <a:ext cx="2438400" cy="1066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2514600"/>
            <a:ext cx="3048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2895600"/>
            <a:ext cx="14287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65425" y="2762250"/>
            <a:ext cx="17145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54301" y="2362200"/>
            <a:ext cx="2438400" cy="1066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06701" y="2514600"/>
            <a:ext cx="3048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06701" y="2952750"/>
            <a:ext cx="17145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0126" y="2762250"/>
            <a:ext cx="17145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99002" y="2362200"/>
            <a:ext cx="2438400" cy="1066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51402" y="2514600"/>
            <a:ext cx="3048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1402" y="2952750"/>
            <a:ext cx="19050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54827" y="2762250"/>
            <a:ext cx="17145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3702" y="2362200"/>
            <a:ext cx="2438400" cy="1066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96102" y="2514600"/>
            <a:ext cx="3048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96102" y="2952750"/>
            <a:ext cx="19050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4191000"/>
            <a:ext cx="10972800" cy="1524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000" y="4381500"/>
            <a:ext cx="1905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2000" y="4648200"/>
            <a:ext cx="10668000" cy="914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" y="5857875"/>
            <a:ext cx="133350" cy="13335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609600" y="381000"/>
            <a:ext cx="1316736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Pessimistic Locking Strategy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609600" y="838200"/>
            <a:ext cx="10972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5A4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 stop the race condition</a:t>
            </a:r>
            <a:endParaRPr lang="en-US" sz="1500" dirty="0"/>
          </a:p>
        </p:txBody>
      </p:sp>
      <p:sp>
        <p:nvSpPr>
          <p:cNvPr id="26" name="Text 2"/>
          <p:cNvSpPr/>
          <p:nvPr/>
        </p:nvSpPr>
        <p:spPr>
          <a:xfrm>
            <a:off x="609600" y="1524000"/>
            <a:ext cx="10972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Mechanism: PostgreSQL </a:t>
            </a:r>
            <a:r>
              <a:rPr lang="en-US" sz="1500" b="1" dirty="0">
                <a:solidFill>
                  <a:srgbClr val="5A4FC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... FOR UPDATE</a:t>
            </a:r>
            <a:endParaRPr lang="en-US" sz="1500" dirty="0"/>
          </a:p>
        </p:txBody>
      </p:sp>
      <p:sp>
        <p:nvSpPr>
          <p:cNvPr id="27" name="Text 3"/>
          <p:cNvSpPr/>
          <p:nvPr/>
        </p:nvSpPr>
        <p:spPr>
          <a:xfrm>
            <a:off x="609600" y="1905000"/>
            <a:ext cx="131673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Prevents race conditions by locking rows during transaction processing, ensuring data consistency in concurrent environments.</a:t>
            </a:r>
            <a:endParaRPr lang="en-US" sz="1200" dirty="0"/>
          </a:p>
        </p:txBody>
      </p:sp>
      <p:sp>
        <p:nvSpPr>
          <p:cNvPr id="28" name="Text 4"/>
          <p:cNvSpPr/>
          <p:nvPr/>
        </p:nvSpPr>
        <p:spPr>
          <a:xfrm>
            <a:off x="881063" y="2552700"/>
            <a:ext cx="800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5"/>
          <p:cNvSpPr/>
          <p:nvPr/>
        </p:nvSpPr>
        <p:spPr>
          <a:xfrm>
            <a:off x="1181100" y="2552700"/>
            <a:ext cx="17030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Begins</a:t>
            </a:r>
            <a:endParaRPr lang="en-US" sz="1200" dirty="0"/>
          </a:p>
        </p:txBody>
      </p:sp>
      <p:sp>
        <p:nvSpPr>
          <p:cNvPr id="30" name="Text 6"/>
          <p:cNvSpPr/>
          <p:nvPr/>
        </p:nvSpPr>
        <p:spPr>
          <a:xfrm>
            <a:off x="1019175" y="2924175"/>
            <a:ext cx="1623268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A executes </a:t>
            </a:r>
            <a:r>
              <a:rPr lang="en-US" sz="1050" dirty="0">
                <a:solidFill>
                  <a:srgbClr val="000000"/>
                </a:solidFill>
                <a:highlight>
                  <a:srgbClr val="F3F4F6"/>
                </a:highlight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BEGIN;</a:t>
            </a:r>
            <a:endParaRPr lang="en-US" sz="1050" dirty="0"/>
          </a:p>
        </p:txBody>
      </p:sp>
      <p:sp>
        <p:nvSpPr>
          <p:cNvPr id="31" name="Text 7"/>
          <p:cNvSpPr/>
          <p:nvPr/>
        </p:nvSpPr>
        <p:spPr>
          <a:xfrm>
            <a:off x="3711476" y="2552700"/>
            <a:ext cx="114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8"/>
          <p:cNvSpPr/>
          <p:nvPr/>
        </p:nvSpPr>
        <p:spPr>
          <a:xfrm>
            <a:off x="4025801" y="2552700"/>
            <a:ext cx="8458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 Row</a:t>
            </a:r>
            <a:endParaRPr lang="en-US" sz="1200" dirty="0"/>
          </a:p>
        </p:txBody>
      </p:sp>
      <p:sp>
        <p:nvSpPr>
          <p:cNvPr id="33" name="Text 9"/>
          <p:cNvSpPr/>
          <p:nvPr/>
        </p:nvSpPr>
        <p:spPr>
          <a:xfrm>
            <a:off x="3892451" y="2895600"/>
            <a:ext cx="18478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A locks specific inventory row</a:t>
            </a:r>
            <a:endParaRPr lang="en-US" sz="1050" dirty="0"/>
          </a:p>
        </p:txBody>
      </p:sp>
      <p:sp>
        <p:nvSpPr>
          <p:cNvPr id="34" name="Text 10"/>
          <p:cNvSpPr/>
          <p:nvPr/>
        </p:nvSpPr>
        <p:spPr>
          <a:xfrm>
            <a:off x="6556177" y="2552700"/>
            <a:ext cx="1143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11"/>
          <p:cNvSpPr/>
          <p:nvPr/>
        </p:nvSpPr>
        <p:spPr>
          <a:xfrm>
            <a:off x="6870502" y="2552700"/>
            <a:ext cx="571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Queue</a:t>
            </a:r>
            <a:endParaRPr lang="en-US" sz="1200" dirty="0"/>
          </a:p>
        </p:txBody>
      </p:sp>
      <p:sp>
        <p:nvSpPr>
          <p:cNvPr id="36" name="Text 12"/>
          <p:cNvSpPr/>
          <p:nvPr/>
        </p:nvSpPr>
        <p:spPr>
          <a:xfrm>
            <a:off x="6756202" y="2895600"/>
            <a:ext cx="1828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B waits until User A finishes</a:t>
            </a:r>
            <a:endParaRPr lang="en-US" sz="1050" dirty="0"/>
          </a:p>
        </p:txBody>
      </p:sp>
      <p:sp>
        <p:nvSpPr>
          <p:cNvPr id="37" name="Text 13"/>
          <p:cNvSpPr/>
          <p:nvPr/>
        </p:nvSpPr>
        <p:spPr>
          <a:xfrm>
            <a:off x="9396115" y="2552700"/>
            <a:ext cx="1257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14"/>
          <p:cNvSpPr/>
          <p:nvPr/>
        </p:nvSpPr>
        <p:spPr>
          <a:xfrm>
            <a:off x="9715202" y="2552700"/>
            <a:ext cx="15430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&amp; Commit</a:t>
            </a:r>
            <a:endParaRPr lang="en-US" sz="1200" dirty="0"/>
          </a:p>
        </p:txBody>
      </p:sp>
      <p:sp>
        <p:nvSpPr>
          <p:cNvPr id="39" name="Text 15"/>
          <p:cNvSpPr/>
          <p:nvPr/>
        </p:nvSpPr>
        <p:spPr>
          <a:xfrm>
            <a:off x="9600902" y="2895600"/>
            <a:ext cx="1828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inventory and commit transaction</a:t>
            </a:r>
            <a:endParaRPr lang="en-US" sz="1050" dirty="0"/>
          </a:p>
        </p:txBody>
      </p:sp>
      <p:sp>
        <p:nvSpPr>
          <p:cNvPr id="40" name="Text 16"/>
          <p:cNvSpPr/>
          <p:nvPr/>
        </p:nvSpPr>
        <p:spPr>
          <a:xfrm>
            <a:off x="609600" y="3810000"/>
            <a:ext cx="10972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Example:</a:t>
            </a:r>
            <a:endParaRPr lang="en-US" sz="1500" dirty="0"/>
          </a:p>
        </p:txBody>
      </p:sp>
      <p:sp>
        <p:nvSpPr>
          <p:cNvPr id="41" name="Text 17"/>
          <p:cNvSpPr/>
          <p:nvPr/>
        </p:nvSpPr>
        <p:spPr>
          <a:xfrm>
            <a:off x="1028700" y="4343400"/>
            <a:ext cx="98780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5A4F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42" name="Text 18"/>
          <p:cNvSpPr/>
          <p:nvPr/>
        </p:nvSpPr>
        <p:spPr>
          <a:xfrm>
            <a:off x="876300" y="4648200"/>
            <a:ext cx="106680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SELECT quantity FROM inventory
</a:t>
            </a:r>
            <a:r>
              <a:rPr lang="en-US" sz="1200" dirty="0">
                <a:solidFill>
                  <a:srgbClr val="5A4FC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WHERE product_id=5</a:t>
            </a:r>
            <a:r>
              <a:rPr lang="en-US" sz="12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
</a:t>
            </a:r>
            <a:r>
              <a:rPr lang="en-US" sz="1200" b="1" dirty="0">
                <a:solidFill>
                  <a:srgbClr val="FF3B3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FOR UPDATE</a:t>
            </a:r>
            <a:r>
              <a:rPr lang="en-US" sz="1200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;</a:t>
            </a:r>
            <a:endParaRPr lang="en-US" sz="1200" dirty="0"/>
          </a:p>
        </p:txBody>
      </p:sp>
      <p:sp>
        <p:nvSpPr>
          <p:cNvPr id="43" name="Text 19"/>
          <p:cNvSpPr/>
          <p:nvPr/>
        </p:nvSpPr>
        <p:spPr>
          <a:xfrm>
            <a:off x="819150" y="5829300"/>
            <a:ext cx="76809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query locks the row until the transaction commits, preventing other transactions from modifying it.</a:t>
            </a:r>
            <a:endParaRPr lang="en-US" sz="1050" dirty="0"/>
          </a:p>
        </p:txBody>
      </p:sp>
      <p:sp>
        <p:nvSpPr>
          <p:cNvPr id="44" name="Text 20"/>
          <p:cNvSpPr/>
          <p:nvPr/>
        </p:nvSpPr>
        <p:spPr>
          <a:xfrm>
            <a:off x="609600" y="6534150"/>
            <a:ext cx="38061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WMS: Concurrency Safety in Databases</a:t>
            </a:r>
            <a:endParaRPr lang="en-US" sz="1050" dirty="0"/>
          </a:p>
        </p:txBody>
      </p:sp>
      <p:sp>
        <p:nvSpPr>
          <p:cNvPr id="45" name="Text 21"/>
          <p:cNvSpPr/>
          <p:nvPr/>
        </p:nvSpPr>
        <p:spPr>
          <a:xfrm>
            <a:off x="11372850" y="6534150"/>
            <a:ext cx="251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4/7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7620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914400"/>
            <a:ext cx="219075" cy="1714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276350"/>
            <a:ext cx="3291780" cy="1676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06030" y="1428750"/>
            <a:ext cx="742950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86980" y="1771650"/>
            <a:ext cx="762000" cy="762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638425"/>
            <a:ext cx="133350" cy="1333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0110" y="1276350"/>
            <a:ext cx="3291780" cy="1676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46540" y="1428750"/>
            <a:ext cx="742950" cy="190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27490" y="1771650"/>
            <a:ext cx="762000" cy="762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2510" y="2638425"/>
            <a:ext cx="133350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0620" y="1276350"/>
            <a:ext cx="3291780" cy="1676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87050" y="1428750"/>
            <a:ext cx="742950" cy="190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68000" y="1771650"/>
            <a:ext cx="762000" cy="762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43020" y="2638425"/>
            <a:ext cx="133350" cy="13335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609600" y="3048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Stress Test Results</a:t>
            </a:r>
            <a:endParaRPr lang="en-US" sz="2700" dirty="0"/>
          </a:p>
        </p:txBody>
      </p:sp>
      <p:sp>
        <p:nvSpPr>
          <p:cNvPr id="19" name="Text 1"/>
          <p:cNvSpPr/>
          <p:nvPr/>
        </p:nvSpPr>
        <p:spPr>
          <a:xfrm>
            <a:off x="904875" y="876300"/>
            <a:ext cx="1316736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Simulated 20 concurrent threads via Python script (</a:t>
            </a:r>
            <a:r>
              <a:rPr lang="en-US" sz="135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wms_test.py</a:t>
            </a: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350" dirty="0"/>
          </a:p>
        </p:txBody>
      </p:sp>
      <p:sp>
        <p:nvSpPr>
          <p:cNvPr id="20" name="Text 2"/>
          <p:cNvSpPr/>
          <p:nvPr/>
        </p:nvSpPr>
        <p:spPr>
          <a:xfrm>
            <a:off x="762000" y="1428750"/>
            <a:ext cx="10629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Inventory</a:t>
            </a:r>
            <a:endParaRPr lang="en-US" sz="1500" dirty="0"/>
          </a:p>
        </p:txBody>
      </p:sp>
      <p:sp>
        <p:nvSpPr>
          <p:cNvPr id="21" name="Text 3"/>
          <p:cNvSpPr/>
          <p:nvPr/>
        </p:nvSpPr>
        <p:spPr>
          <a:xfrm>
            <a:off x="3101280" y="1428750"/>
            <a:ext cx="8915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</a:t>
            </a:r>
            <a:endParaRPr lang="en-US" sz="900" dirty="0"/>
          </a:p>
        </p:txBody>
      </p:sp>
      <p:sp>
        <p:nvSpPr>
          <p:cNvPr id="22" name="Text 4"/>
          <p:cNvSpPr/>
          <p:nvPr/>
        </p:nvSpPr>
        <p:spPr>
          <a:xfrm>
            <a:off x="762000" y="1962150"/>
            <a:ext cx="8572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2700" dirty="0"/>
          </a:p>
        </p:txBody>
      </p:sp>
      <p:sp>
        <p:nvSpPr>
          <p:cNvPr id="23" name="Text 5"/>
          <p:cNvSpPr/>
          <p:nvPr/>
        </p:nvSpPr>
        <p:spPr>
          <a:xfrm>
            <a:off x="762000" y="2343150"/>
            <a:ext cx="10287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Quantity</a:t>
            </a:r>
            <a:endParaRPr lang="en-US" sz="1050" dirty="0"/>
          </a:p>
        </p:txBody>
      </p:sp>
      <p:sp>
        <p:nvSpPr>
          <p:cNvPr id="24" name="Text 6"/>
          <p:cNvSpPr/>
          <p:nvPr/>
        </p:nvSpPr>
        <p:spPr>
          <a:xfrm>
            <a:off x="933450" y="2609850"/>
            <a:ext cx="358437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negative inventory values</a:t>
            </a:r>
            <a:endParaRPr lang="en-US" sz="1050" dirty="0"/>
          </a:p>
        </p:txBody>
      </p:sp>
      <p:sp>
        <p:nvSpPr>
          <p:cNvPr id="25" name="Text 7"/>
          <p:cNvSpPr/>
          <p:nvPr/>
        </p:nvSpPr>
        <p:spPr>
          <a:xfrm>
            <a:off x="4602510" y="1428750"/>
            <a:ext cx="7543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</a:t>
            </a:r>
            <a:endParaRPr lang="en-US" sz="1500" dirty="0"/>
          </a:p>
        </p:txBody>
      </p:sp>
      <p:sp>
        <p:nvSpPr>
          <p:cNvPr id="26" name="Text 8"/>
          <p:cNvSpPr/>
          <p:nvPr/>
        </p:nvSpPr>
        <p:spPr>
          <a:xfrm>
            <a:off x="6941790" y="1428750"/>
            <a:ext cx="8915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</a:t>
            </a:r>
            <a:endParaRPr lang="en-US" sz="900" dirty="0"/>
          </a:p>
        </p:txBody>
      </p:sp>
      <p:sp>
        <p:nvSpPr>
          <p:cNvPr id="27" name="Text 9"/>
          <p:cNvSpPr/>
          <p:nvPr/>
        </p:nvSpPr>
        <p:spPr>
          <a:xfrm>
            <a:off x="4602510" y="1962150"/>
            <a:ext cx="1143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700" dirty="0"/>
          </a:p>
        </p:txBody>
      </p:sp>
      <p:sp>
        <p:nvSpPr>
          <p:cNvPr id="28" name="Text 10"/>
          <p:cNvSpPr/>
          <p:nvPr/>
        </p:nvSpPr>
        <p:spPr>
          <a:xfrm>
            <a:off x="4602510" y="2343150"/>
            <a:ext cx="13716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 Orders</a:t>
            </a:r>
            <a:endParaRPr lang="en-US" sz="1050" dirty="0"/>
          </a:p>
        </p:txBody>
      </p:sp>
      <p:sp>
        <p:nvSpPr>
          <p:cNvPr id="29" name="Text 11"/>
          <p:cNvSpPr/>
          <p:nvPr/>
        </p:nvSpPr>
        <p:spPr>
          <a:xfrm>
            <a:off x="4773960" y="2609850"/>
            <a:ext cx="358437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Matched inventory availability</a:t>
            </a:r>
            <a:endParaRPr lang="en-US" sz="1050" dirty="0"/>
          </a:p>
        </p:txBody>
      </p:sp>
      <p:sp>
        <p:nvSpPr>
          <p:cNvPr id="30" name="Text 12"/>
          <p:cNvSpPr/>
          <p:nvPr/>
        </p:nvSpPr>
        <p:spPr>
          <a:xfrm>
            <a:off x="8443020" y="1428750"/>
            <a:ext cx="10515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31" name="Text 13"/>
          <p:cNvSpPr/>
          <p:nvPr/>
        </p:nvSpPr>
        <p:spPr>
          <a:xfrm>
            <a:off x="10782300" y="1428750"/>
            <a:ext cx="8915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</a:t>
            </a:r>
            <a:endParaRPr lang="en-US" sz="900" dirty="0"/>
          </a:p>
        </p:txBody>
      </p:sp>
      <p:sp>
        <p:nvSpPr>
          <p:cNvPr id="32" name="Text 14"/>
          <p:cNvSpPr/>
          <p:nvPr/>
        </p:nvSpPr>
        <p:spPr>
          <a:xfrm>
            <a:off x="8443020" y="1962150"/>
            <a:ext cx="1219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2700" dirty="0"/>
          </a:p>
        </p:txBody>
      </p:sp>
      <p:sp>
        <p:nvSpPr>
          <p:cNvPr id="33" name="Text 15"/>
          <p:cNvSpPr/>
          <p:nvPr/>
        </p:nvSpPr>
        <p:spPr>
          <a:xfrm>
            <a:off x="8443020" y="2343150"/>
            <a:ext cx="14630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Movement Records</a:t>
            </a:r>
            <a:endParaRPr lang="en-US" sz="1050" dirty="0"/>
          </a:p>
        </p:txBody>
      </p:sp>
      <p:sp>
        <p:nvSpPr>
          <p:cNvPr id="34" name="Text 16"/>
          <p:cNvSpPr/>
          <p:nvPr/>
        </p:nvSpPr>
        <p:spPr>
          <a:xfrm>
            <a:off x="8614470" y="2609850"/>
            <a:ext cx="358437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Exact match with orders</a:t>
            </a:r>
            <a:endParaRPr lang="en-US" sz="1050" dirty="0"/>
          </a:p>
        </p:txBody>
      </p:sp>
      <p:sp>
        <p:nvSpPr>
          <p:cNvPr id="35" name="Text 17"/>
          <p:cNvSpPr/>
          <p:nvPr/>
        </p:nvSpPr>
        <p:spPr>
          <a:xfrm>
            <a:off x="609600" y="6534150"/>
            <a:ext cx="38061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WMS: Concurrency Safety in Databases</a:t>
            </a:r>
            <a:endParaRPr lang="en-US" sz="1050" dirty="0"/>
          </a:p>
        </p:txBody>
      </p:sp>
      <p:sp>
        <p:nvSpPr>
          <p:cNvPr id="36" name="Text 18"/>
          <p:cNvSpPr/>
          <p:nvPr/>
        </p:nvSpPr>
        <p:spPr>
          <a:xfrm>
            <a:off x="11382375" y="6534150"/>
            <a:ext cx="2400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5/7</a:t>
            </a:r>
            <a:endParaRPr lang="en-US" sz="1050" dirty="0"/>
          </a:p>
        </p:txBody>
      </p:sp>
      <p:pic>
        <p:nvPicPr>
          <p:cNvPr id="40" name="Picture 3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FECBE9-9D73-BA8C-1BDA-4326391CA8D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0063" y="3015124"/>
            <a:ext cx="11760518" cy="3780502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  <a:softEdge rad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6477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257300"/>
            <a:ext cx="5372100" cy="2286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409700"/>
            <a:ext cx="2286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2076450"/>
            <a:ext cx="4686300" cy="533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257300"/>
            <a:ext cx="5372100" cy="2286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2700" y="1409700"/>
            <a:ext cx="485775" cy="533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1524000"/>
            <a:ext cx="257175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00875" y="2286000"/>
            <a:ext cx="4429125" cy="1104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771900"/>
            <a:ext cx="5372100" cy="2095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" y="3924300"/>
            <a:ext cx="457200" cy="533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6300" y="403860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71600" y="4800600"/>
            <a:ext cx="4457700" cy="914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3771900"/>
            <a:ext cx="5372100" cy="2095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62700" y="3924300"/>
            <a:ext cx="457200" cy="533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0" y="4038600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72300" y="4591050"/>
            <a:ext cx="4457700" cy="9144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09600" y="2286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Beyond Transactions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609600" y="838200"/>
            <a:ext cx="10972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optimizations for production readiness</a:t>
            </a:r>
            <a:endParaRPr lang="en-US" sz="1350" dirty="0"/>
          </a:p>
        </p:txBody>
      </p:sp>
      <p:sp>
        <p:nvSpPr>
          <p:cNvPr id="22" name="Text 2"/>
          <p:cNvSpPr/>
          <p:nvPr/>
        </p:nvSpPr>
        <p:spPr>
          <a:xfrm>
            <a:off x="1143000" y="1409700"/>
            <a:ext cx="46863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Indexes</a:t>
            </a:r>
            <a:endParaRPr lang="en-US" sz="1500" dirty="0"/>
          </a:p>
        </p:txBody>
      </p:sp>
      <p:sp>
        <p:nvSpPr>
          <p:cNvPr id="23" name="Text 3"/>
          <p:cNvSpPr/>
          <p:nvPr/>
        </p:nvSpPr>
        <p:spPr>
          <a:xfrm>
            <a:off x="1143000" y="1752600"/>
            <a:ext cx="562356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indexes on </a:t>
            </a:r>
            <a:r>
              <a:rPr lang="en-US" sz="12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movement_time</a:t>
            </a: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enable fast history queries.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1219200" y="2076450"/>
            <a:ext cx="46863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CREATE INDEX idx_movements_time ON stock_movements(movement_time);</a:t>
            </a:r>
            <a:endParaRPr lang="en-US" sz="1050" dirty="0"/>
          </a:p>
        </p:txBody>
      </p:sp>
      <p:sp>
        <p:nvSpPr>
          <p:cNvPr id="25" name="Text 5"/>
          <p:cNvSpPr/>
          <p:nvPr/>
        </p:nvSpPr>
        <p:spPr>
          <a:xfrm>
            <a:off x="7000875" y="1409700"/>
            <a:ext cx="53149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Analytical Capabilities</a:t>
            </a:r>
            <a:endParaRPr lang="en-US" sz="1500" dirty="0"/>
          </a:p>
        </p:txBody>
      </p:sp>
      <p:sp>
        <p:nvSpPr>
          <p:cNvPr id="26" name="Text 6"/>
          <p:cNvSpPr/>
          <p:nvPr/>
        </p:nvSpPr>
        <p:spPr>
          <a:xfrm>
            <a:off x="7000875" y="1752600"/>
            <a:ext cx="44291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CTEs calculate "Available-to-Sell" (Physical Stock - Reserved).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7077075" y="2286000"/>
            <a:ext cx="4429125" cy="1104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WITH reserved AS (SELECT product_id, SUM(quantity) FROM orders WHERE status='reserved' GROUP BY product_id) SELECT p.product_id, (p.quantity - COALESCE(r.quantity, 0)) AS available FROM products p LEFT JOIN reserved r ON p.product_id = r.product_id;</a:t>
            </a:r>
            <a:endParaRPr lang="en-US" sz="1050" dirty="0"/>
          </a:p>
        </p:txBody>
      </p:sp>
      <p:sp>
        <p:nvSpPr>
          <p:cNvPr id="28" name="Text 8"/>
          <p:cNvSpPr/>
          <p:nvPr/>
        </p:nvSpPr>
        <p:spPr>
          <a:xfrm>
            <a:off x="1371600" y="3924300"/>
            <a:ext cx="4457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Insights</a:t>
            </a:r>
            <a:endParaRPr lang="en-US" sz="1500" dirty="0"/>
          </a:p>
        </p:txBody>
      </p:sp>
      <p:sp>
        <p:nvSpPr>
          <p:cNvPr id="29" name="Text 9"/>
          <p:cNvSpPr/>
          <p:nvPr/>
        </p:nvSpPr>
        <p:spPr>
          <a:xfrm>
            <a:off x="1371600" y="4267200"/>
            <a:ext cx="44577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 functions provide powerful sales trend analysis capabilities.</a:t>
            </a:r>
            <a:endParaRPr lang="en-US" sz="1200" dirty="0"/>
          </a:p>
        </p:txBody>
      </p:sp>
      <p:sp>
        <p:nvSpPr>
          <p:cNvPr id="30" name="Text 10"/>
          <p:cNvSpPr/>
          <p:nvPr/>
        </p:nvSpPr>
        <p:spPr>
          <a:xfrm>
            <a:off x="1447800" y="4800600"/>
            <a:ext cx="44577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SELECT product_id, movement_time, quantity, SUM(quantity) OVER (PARTITION BY product_id ORDER BY movement_time ROWS BETWEEN 6 PRECEDING AND CURRENT ROW) AS trend FROM stock_movements WHERE type='sale';</a:t>
            </a:r>
            <a:endParaRPr lang="en-US" sz="1050" dirty="0"/>
          </a:p>
        </p:txBody>
      </p:sp>
      <p:sp>
        <p:nvSpPr>
          <p:cNvPr id="31" name="Text 11"/>
          <p:cNvSpPr/>
          <p:nvPr/>
        </p:nvSpPr>
        <p:spPr>
          <a:xfrm>
            <a:off x="6972300" y="3924300"/>
            <a:ext cx="4457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Reliability</a:t>
            </a:r>
            <a:endParaRPr lang="en-US" sz="1500" dirty="0"/>
          </a:p>
        </p:txBody>
      </p:sp>
      <p:sp>
        <p:nvSpPr>
          <p:cNvPr id="32" name="Text 12"/>
          <p:cNvSpPr/>
          <p:nvPr/>
        </p:nvSpPr>
        <p:spPr>
          <a:xfrm>
            <a:off x="6972300" y="4267200"/>
            <a:ext cx="5349240" cy="2476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</a:t>
            </a:r>
            <a:r>
              <a:rPr lang="en-US" sz="1200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pg_dump</a:t>
            </a: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backup strategy ensures data recovery.</a:t>
            </a:r>
            <a:endParaRPr lang="en-US" sz="1200" dirty="0"/>
          </a:p>
        </p:txBody>
      </p:sp>
      <p:sp>
        <p:nvSpPr>
          <p:cNvPr id="33" name="Text 13"/>
          <p:cNvSpPr/>
          <p:nvPr/>
        </p:nvSpPr>
        <p:spPr>
          <a:xfrm>
            <a:off x="7048500" y="4591050"/>
            <a:ext cx="44577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#!/bin/bash
pg_dump -h localhost -p 5432 -U wms_user wms_database &gt; backup_$(date +%Y%m%d).sql
gzip backup_$(date +%Y%m%d).sql</a:t>
            </a:r>
            <a:endParaRPr lang="en-US" sz="1050" dirty="0"/>
          </a:p>
        </p:txBody>
      </p:sp>
      <p:sp>
        <p:nvSpPr>
          <p:cNvPr id="34" name="Text 14"/>
          <p:cNvSpPr/>
          <p:nvPr/>
        </p:nvSpPr>
        <p:spPr>
          <a:xfrm>
            <a:off x="609600" y="6534150"/>
            <a:ext cx="38061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WMS: Concurrency Safety in Databases</a:t>
            </a:r>
            <a:endParaRPr lang="en-US" sz="1050" dirty="0"/>
          </a:p>
        </p:txBody>
      </p:sp>
      <p:sp>
        <p:nvSpPr>
          <p:cNvPr id="35" name="Text 15"/>
          <p:cNvSpPr/>
          <p:nvPr/>
        </p:nvSpPr>
        <p:spPr>
          <a:xfrm>
            <a:off x="11372850" y="6534150"/>
            <a:ext cx="251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6/7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8382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181100"/>
            <a:ext cx="5334000" cy="1257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1409700"/>
            <a:ext cx="3048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181100"/>
            <a:ext cx="5334000" cy="1257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1409700"/>
            <a:ext cx="3048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743200"/>
            <a:ext cx="5334000" cy="1257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2971800"/>
            <a:ext cx="3429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2743200"/>
            <a:ext cx="5334000" cy="1257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2971800"/>
            <a:ext cx="3429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4457700"/>
            <a:ext cx="10972800" cy="1181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62488" y="4686300"/>
            <a:ext cx="361950" cy="3429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609600" y="381000"/>
            <a:ext cx="109728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Summary</a:t>
            </a:r>
            <a:endParaRPr lang="en-US" sz="2700" dirty="0"/>
          </a:p>
        </p:txBody>
      </p:sp>
      <p:sp>
        <p:nvSpPr>
          <p:cNvPr id="16" name="Text 1"/>
          <p:cNvSpPr/>
          <p:nvPr/>
        </p:nvSpPr>
        <p:spPr>
          <a:xfrm>
            <a:off x="1333500" y="1409700"/>
            <a:ext cx="43815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Normalized Schema</a:t>
            </a:r>
            <a:endParaRPr lang="en-US" sz="1500" dirty="0"/>
          </a:p>
        </p:txBody>
      </p:sp>
      <p:sp>
        <p:nvSpPr>
          <p:cNvPr id="17" name="Text 2"/>
          <p:cNvSpPr/>
          <p:nvPr/>
        </p:nvSpPr>
        <p:spPr>
          <a:xfrm>
            <a:off x="1333500" y="1752600"/>
            <a:ext cx="4381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a scalable 3NF schema with dual-state inventory tracking and hard constraint checks.</a:t>
            </a:r>
            <a:endParaRPr lang="en-US" sz="1200" dirty="0"/>
          </a:p>
        </p:txBody>
      </p:sp>
      <p:sp>
        <p:nvSpPr>
          <p:cNvPr id="18" name="Text 3"/>
          <p:cNvSpPr/>
          <p:nvPr/>
        </p:nvSpPr>
        <p:spPr>
          <a:xfrm>
            <a:off x="6972300" y="1409700"/>
            <a:ext cx="5257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Concurrency Solutions</a:t>
            </a:r>
            <a:endParaRPr lang="en-US" sz="1500" dirty="0"/>
          </a:p>
        </p:txBody>
      </p:sp>
      <p:sp>
        <p:nvSpPr>
          <p:cNvPr id="19" name="Text 4"/>
          <p:cNvSpPr/>
          <p:nvPr/>
        </p:nvSpPr>
        <p:spPr>
          <a:xfrm>
            <a:off x="6972300" y="1752600"/>
            <a:ext cx="43815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Implemented pessimistic locking strategy to prevent race conditions and overselling.</a:t>
            </a:r>
            <a:endParaRPr lang="en-US" sz="1200" dirty="0"/>
          </a:p>
        </p:txBody>
      </p:sp>
      <p:sp>
        <p:nvSpPr>
          <p:cNvPr id="20" name="Text 5"/>
          <p:cNvSpPr/>
          <p:nvPr/>
        </p:nvSpPr>
        <p:spPr>
          <a:xfrm>
            <a:off x="1371600" y="2971800"/>
            <a:ext cx="4343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Stress Testing</a:t>
            </a:r>
            <a:endParaRPr lang="en-US" sz="1500" dirty="0"/>
          </a:p>
        </p:txBody>
      </p:sp>
      <p:sp>
        <p:nvSpPr>
          <p:cNvPr id="21" name="Text 6"/>
          <p:cNvSpPr/>
          <p:nvPr/>
        </p:nvSpPr>
        <p:spPr>
          <a:xfrm>
            <a:off x="1371600" y="3314700"/>
            <a:ext cx="4343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system integrity through Python-based stress testing with 20 concurrent threads.</a:t>
            </a:r>
            <a:endParaRPr lang="en-US" sz="1200" dirty="0"/>
          </a:p>
        </p:txBody>
      </p:sp>
      <p:sp>
        <p:nvSpPr>
          <p:cNvPr id="22" name="Text 7"/>
          <p:cNvSpPr/>
          <p:nvPr/>
        </p:nvSpPr>
        <p:spPr>
          <a:xfrm>
            <a:off x="7010400" y="2971800"/>
            <a:ext cx="4343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Production-Ready</a:t>
            </a:r>
            <a:endParaRPr lang="en-US" sz="1500" dirty="0"/>
          </a:p>
        </p:txBody>
      </p:sp>
      <p:sp>
        <p:nvSpPr>
          <p:cNvPr id="23" name="Text 8"/>
          <p:cNvSpPr/>
          <p:nvPr/>
        </p:nvSpPr>
        <p:spPr>
          <a:xfrm>
            <a:off x="7010400" y="3314700"/>
            <a:ext cx="4343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Delivered a robust backend implementation with analytics, optimization, and reliability features.</a:t>
            </a:r>
            <a:endParaRPr lang="en-US" sz="1200" dirty="0"/>
          </a:p>
        </p:txBody>
      </p:sp>
      <p:sp>
        <p:nvSpPr>
          <p:cNvPr id="24" name="Text 9"/>
          <p:cNvSpPr/>
          <p:nvPr/>
        </p:nvSpPr>
        <p:spPr>
          <a:xfrm>
            <a:off x="4899660" y="4705350"/>
            <a:ext cx="286893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&amp; Answers</a:t>
            </a:r>
            <a:endParaRPr lang="en-US" sz="1800" dirty="0"/>
          </a:p>
        </p:txBody>
      </p:sp>
      <p:sp>
        <p:nvSpPr>
          <p:cNvPr id="25" name="Text 10"/>
          <p:cNvSpPr/>
          <p:nvPr/>
        </p:nvSpPr>
        <p:spPr>
          <a:xfrm>
            <a:off x="-213360" y="5143500"/>
            <a:ext cx="126187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for your attention. Let's discuss the implementation details and test results.</a:t>
            </a:r>
            <a:endParaRPr lang="en-US" sz="1350" dirty="0"/>
          </a:p>
        </p:txBody>
      </p:sp>
      <p:sp>
        <p:nvSpPr>
          <p:cNvPr id="26" name="Text 11"/>
          <p:cNvSpPr/>
          <p:nvPr/>
        </p:nvSpPr>
        <p:spPr>
          <a:xfrm>
            <a:off x="609600" y="6534150"/>
            <a:ext cx="380619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WMS: Concurrency Safety in Databases</a:t>
            </a:r>
            <a:endParaRPr lang="en-US" sz="1050" dirty="0"/>
          </a:p>
        </p:txBody>
      </p:sp>
      <p:sp>
        <p:nvSpPr>
          <p:cNvPr id="27" name="Text 12"/>
          <p:cNvSpPr/>
          <p:nvPr/>
        </p:nvSpPr>
        <p:spPr>
          <a:xfrm>
            <a:off x="11382375" y="6534150"/>
            <a:ext cx="24003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7/7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733</Words>
  <Application>Microsoft Macintosh PowerPoint</Application>
  <PresentationFormat>Widescreen</PresentationFormat>
  <Paragraphs>117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Inter</vt:lpstr>
      <vt:lpstr>ui-monospace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jianduojie dan</cp:lastModifiedBy>
  <cp:revision>3</cp:revision>
  <dcterms:created xsi:type="dcterms:W3CDTF">2025-12-02T03:05:09Z</dcterms:created>
  <dcterms:modified xsi:type="dcterms:W3CDTF">2025-12-03T13:29:06Z</dcterms:modified>
</cp:coreProperties>
</file>